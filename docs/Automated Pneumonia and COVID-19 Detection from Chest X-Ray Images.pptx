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4"/>
  </p:sldMasterIdLst>
  <p:notesMasterIdLst>
    <p:notesMasterId r:id="rId14"/>
  </p:notesMasterIdLst>
  <p:sldIdLst>
    <p:sldId id="369" r:id="rId5"/>
    <p:sldId id="388" r:id="rId6"/>
    <p:sldId id="385" r:id="rId7"/>
    <p:sldId id="370" r:id="rId8"/>
    <p:sldId id="371" r:id="rId9"/>
    <p:sldId id="382" r:id="rId10"/>
    <p:sldId id="387" r:id="rId11"/>
    <p:sldId id="383" r:id="rId12"/>
    <p:sldId id="3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6243B6-5C2B-31E2-50ED-D7B906B0DF72}" v="16" dt="2026-04-06T09:41:38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chana Kl" userId="S::sinchanakl@iisc.ac.in::31a62d28-d8b3-4662-9d15-65cf5499009a" providerId="AD" clId="Web-{046243B6-5C2B-31E2-50ED-D7B906B0DF72}"/>
    <pc:docChg chg="addSld delSld">
      <pc:chgData name="Sinchana Kl" userId="S::sinchanakl@iisc.ac.in::31a62d28-d8b3-4662-9d15-65cf5499009a" providerId="AD" clId="Web-{046243B6-5C2B-31E2-50ED-D7B906B0DF72}" dt="2026-04-06T09:41:38.525" v="15"/>
      <pc:docMkLst>
        <pc:docMk/>
      </pc:docMkLst>
      <pc:sldChg chg="add del">
        <pc:chgData name="Sinchana Kl" userId="S::sinchanakl@iisc.ac.in::31a62d28-d8b3-4662-9d15-65cf5499009a" providerId="AD" clId="Web-{046243B6-5C2B-31E2-50ED-D7B906B0DF72}" dt="2026-04-06T09:41:38.494" v="10"/>
        <pc:sldMkLst>
          <pc:docMk/>
          <pc:sldMk cId="3096846577" sldId="370"/>
        </pc:sldMkLst>
      </pc:sldChg>
      <pc:sldChg chg="add del">
        <pc:chgData name="Sinchana Kl" userId="S::sinchanakl@iisc.ac.in::31a62d28-d8b3-4662-9d15-65cf5499009a" providerId="AD" clId="Web-{046243B6-5C2B-31E2-50ED-D7B906B0DF72}" dt="2026-04-06T09:41:38.494" v="11"/>
        <pc:sldMkLst>
          <pc:docMk/>
          <pc:sldMk cId="1951567899" sldId="371"/>
        </pc:sldMkLst>
      </pc:sldChg>
      <pc:sldChg chg="add del">
        <pc:chgData name="Sinchana Kl" userId="S::sinchanakl@iisc.ac.in::31a62d28-d8b3-4662-9d15-65cf5499009a" providerId="AD" clId="Web-{046243B6-5C2B-31E2-50ED-D7B906B0DF72}" dt="2026-04-06T09:41:38.509" v="14"/>
        <pc:sldMkLst>
          <pc:docMk/>
          <pc:sldMk cId="2165070476" sldId="372"/>
        </pc:sldMkLst>
      </pc:sldChg>
      <pc:sldChg chg="add del">
        <pc:chgData name="Sinchana Kl" userId="S::sinchanakl@iisc.ac.in::31a62d28-d8b3-4662-9d15-65cf5499009a" providerId="AD" clId="Web-{046243B6-5C2B-31E2-50ED-D7B906B0DF72}" dt="2026-04-06T09:41:38.509" v="12"/>
        <pc:sldMkLst>
          <pc:docMk/>
          <pc:sldMk cId="1187684189" sldId="382"/>
        </pc:sldMkLst>
      </pc:sldChg>
      <pc:sldChg chg="add del">
        <pc:chgData name="Sinchana Kl" userId="S::sinchanakl@iisc.ac.in::31a62d28-d8b3-4662-9d15-65cf5499009a" providerId="AD" clId="Web-{046243B6-5C2B-31E2-50ED-D7B906B0DF72}" dt="2026-04-06T09:41:38.509" v="13"/>
        <pc:sldMkLst>
          <pc:docMk/>
          <pc:sldMk cId="2334113225" sldId="383"/>
        </pc:sldMkLst>
      </pc:sldChg>
      <pc:sldChg chg="add del">
        <pc:chgData name="Sinchana Kl" userId="S::sinchanakl@iisc.ac.in::31a62d28-d8b3-4662-9d15-65cf5499009a" providerId="AD" clId="Web-{046243B6-5C2B-31E2-50ED-D7B906B0DF72}" dt="2026-04-06T09:41:38.478" v="9"/>
        <pc:sldMkLst>
          <pc:docMk/>
          <pc:sldMk cId="1354366628" sldId="385"/>
        </pc:sldMkLst>
      </pc:sldChg>
      <pc:sldChg chg="add del">
        <pc:chgData name="Sinchana Kl" userId="S::sinchanakl@iisc.ac.in::31a62d28-d8b3-4662-9d15-65cf5499009a" providerId="AD" clId="Web-{046243B6-5C2B-31E2-50ED-D7B906B0DF72}" dt="2026-04-06T09:41:38.525" v="15"/>
        <pc:sldMkLst>
          <pc:docMk/>
          <pc:sldMk cId="1503428106" sldId="387"/>
        </pc:sldMkLst>
      </pc:sldChg>
      <pc:sldChg chg="add del">
        <pc:chgData name="Sinchana Kl" userId="S::sinchanakl@iisc.ac.in::31a62d28-d8b3-4662-9d15-65cf5499009a" providerId="AD" clId="Web-{046243B6-5C2B-31E2-50ED-D7B906B0DF72}" dt="2026-04-06T09:41:38.463" v="8"/>
        <pc:sldMkLst>
          <pc:docMk/>
          <pc:sldMk cId="2531426205" sldId="3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35C32-9ADE-FE42-918C-822D8563D33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A7DDB-EEC3-E14D-8139-D0C29FBA1B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68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A7DDB-EEC3-E14D-8139-D0C29FBA1B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83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A7DDB-EEC3-E14D-8139-D0C29FBA1B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26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A7DDB-EEC3-E14D-8139-D0C29FBA1B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89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1E48-DB85-F6D6-98FD-D69D397CA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A4C87-A18C-14E5-2832-C61D2DA80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1537C-468D-AA39-E97A-A5850F430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E93AA-736F-E325-3828-FD12DD70F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EF155-BFFF-2C07-CB8D-D1E863F3A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4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1C6AE-0445-17B0-2B0C-3DAB78DEF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F4DAE-7AAB-55A7-C28E-732080A46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BAFE2-8D07-48E6-BD89-D9924F8C5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CA5F0-C6DE-7133-2CE6-939FA47D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FE33A-9808-7C8D-16E4-3D1AE4C52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85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8AE7B-4FEB-869C-3AA1-FA36A889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556BD-DBE4-E055-C8ED-CC2E223FF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1DD66-5D23-6C35-AB4C-61A3D885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ECC1-FD73-63ED-673B-16F7FC9FE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A972C-8465-2BEB-7197-26DCB8CA0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8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FC264-E62D-5BAE-F397-467E3F387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27933-7C9A-1D3F-47D3-840B9D1672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A6641-E561-2347-1176-4509B9584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59FAA-D865-3E92-4804-251123AD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827EC-D446-45A3-F49B-23E3C7424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DA673-B2B5-E6B0-D66A-62D6A54E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37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57B28-0165-557A-84BA-2D3F188C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DCAD1-4959-CBD0-B9B0-427555338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3B4B6-FC9D-71A6-9E8B-78CC4DE54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C78202-5185-1A9A-1141-2717363213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25E97A-5268-6E89-57BF-BD7E300BC4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95C48F-A272-43A4-2FB5-7441C74F3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F548D1-0613-E9CB-6D0A-411D6D1FD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564F2-5167-1FB8-B39A-FD555071A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78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64D44-5854-3409-FFCF-1D2543602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801C5-CB30-2273-E4A1-16EBCE21A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1BF58-1B67-A949-A31A-2A48FBCE1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3E830-C05C-4004-DB5E-DE43FFF2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55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3608E2-18F2-07EC-B18B-965DB35B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1EC9D-22EA-E11F-B657-C8852C2E6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42B0A-D8F8-647A-E816-6B713DBC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88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E4FA8-A95F-84CB-8A8E-D1C1D51CE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B766A-DC12-204C-6F1C-8477EE66D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0FE36-ED46-C6B5-7120-987FF9BD7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87A3E-FC52-B14F-49EB-BFAF45854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F6DDD-8147-4456-C4D4-F4C1F4546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DA976-F86E-8239-90D4-606FD31A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11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259F3-9DDA-6D78-3D9E-3D482CA5C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049199-F479-5474-FC83-F3204D930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C5F15-A8FD-A38A-07BF-408766049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DB868-80C6-6954-F986-0E264239E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BAF49-9444-8FDE-1F72-6B24575F7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F7751-FB58-97D2-38F6-41177177D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89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158C7-EDD5-81C2-3CAA-21CAFF2BA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90EE0-12A7-6708-8DC9-9C15E842E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BBF7C-3F76-7BDE-CA2A-A8BA48FF6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BEFE1-20A1-43C9-FFF9-3392BAD0C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A18F0-E5E8-C8F7-FE0C-90B56A81D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48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E8395C-FEC3-7DCB-34FA-412BE358DF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70072F-536A-04F7-991B-819DAF7CE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B4187-3E21-A305-6249-D9E7A72E1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5214C-2D76-3A18-15A9-2ECB974BB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E4AC-3647-733D-A3B5-4D5B134A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64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60A0F5-841A-278A-ACD0-A6FB126AA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8B864-000D-A41F-F722-59C0216EA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B2D9E-3FA6-4515-22D3-8699BDEF1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C02E6-38B8-F14F-9600-D1938248219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F9CC6-4897-570D-574E-E697C926B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9DFB-7577-712E-2213-AABE72E3DA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71682-191D-4F42-A2CF-251D24C5D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8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2334C-2128-6EF5-3E4B-DAD27C31D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464" y="573157"/>
            <a:ext cx="10863072" cy="2700395"/>
          </a:xfrm>
        </p:spPr>
        <p:txBody>
          <a:bodyPr/>
          <a:lstStyle/>
          <a:p>
            <a:r>
              <a:rPr lang="en-US" sz="3200" b="1" dirty="0"/>
              <a:t>Automated </a:t>
            </a:r>
            <a:br>
              <a:rPr lang="en-US" sz="3200" b="1" dirty="0"/>
            </a:br>
            <a:r>
              <a:rPr lang="en-US" sz="3200" b="1" dirty="0"/>
              <a:t>Pneumonia and COVID-19 Detection </a:t>
            </a:r>
            <a:br>
              <a:rPr lang="en-US" sz="3200" b="1" dirty="0"/>
            </a:br>
            <a:r>
              <a:rPr lang="en-US" sz="3200" b="1" dirty="0"/>
              <a:t>from Chest X-Ray Images</a:t>
            </a:r>
            <a:endParaRPr sz="3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7F59C3-A0E6-79EC-8CDE-DEDBE0A8C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4189779"/>
            <a:ext cx="8825658" cy="86142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sz="2000" b="1" dirty="0"/>
              <a:t>Rajib Roy</a:t>
            </a:r>
          </a:p>
          <a:p>
            <a:pPr algn="ctr"/>
            <a:r>
              <a:rPr lang="en-US" sz="1600" dirty="0" err="1"/>
              <a:t>M.Tech</a:t>
            </a:r>
            <a:r>
              <a:rPr lang="en-US" sz="1600" dirty="0"/>
              <a:t>. (AI)  |  </a:t>
            </a:r>
            <a:r>
              <a:rPr sz="1600" b="0" dirty="0"/>
              <a:t>SR No: 24459  |  IISc Bengaluru</a:t>
            </a:r>
          </a:p>
          <a:p>
            <a:pPr algn="ctr"/>
            <a:r>
              <a:rPr sz="1600" b="0" dirty="0"/>
              <a:t>DS 216o: Applied AI in Healthcare</a:t>
            </a:r>
          </a:p>
          <a:p>
            <a:pPr algn="ctr"/>
            <a:r>
              <a:rPr sz="1400" b="0" dirty="0"/>
              <a:t>April 2026</a:t>
            </a:r>
          </a:p>
        </p:txBody>
      </p:sp>
    </p:spTree>
    <p:extLst>
      <p:ext uri="{BB962C8B-B14F-4D97-AF65-F5344CB8AC3E}">
        <p14:creationId xmlns:p14="http://schemas.microsoft.com/office/powerpoint/2010/main" val="159431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5288C8-8AC8-4F69-65E3-D5B61AC07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464" y="365125"/>
            <a:ext cx="11070336" cy="1325563"/>
          </a:xfrm>
        </p:spPr>
        <p:txBody>
          <a:bodyPr>
            <a:normAutofit/>
          </a:bodyPr>
          <a:lstStyle/>
          <a:p>
            <a:r>
              <a:rPr sz="2600" b="1" dirty="0"/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14300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1F4E79"/>
                </a:solidFill>
              </a:rPr>
              <a:t>Primary Objective</a:t>
            </a:r>
          </a:p>
          <a:p>
            <a:pPr algn="l"/>
            <a:r>
              <a:rPr sz="1400" b="0" dirty="0"/>
              <a:t>  •  3-class chest X-ray classification: Normal / Pneumonia / COVID-19</a:t>
            </a:r>
          </a:p>
          <a:p>
            <a:pPr algn="l"/>
            <a:r>
              <a:rPr sz="1400" b="0" dirty="0"/>
              <a:t>  •  Enable automated, scalable screening to assist radiologists</a:t>
            </a:r>
          </a:p>
          <a:p>
            <a:pPr algn="l">
              <a:spcBef>
                <a:spcPts val="800"/>
              </a:spcBef>
            </a:pPr>
            <a:r>
              <a:rPr sz="1700" b="1" dirty="0">
                <a:solidFill>
                  <a:srgbClr val="1F4E79"/>
                </a:solidFill>
              </a:rPr>
              <a:t>Secondary Objectives</a:t>
            </a:r>
          </a:p>
          <a:p>
            <a:pPr algn="l"/>
            <a:r>
              <a:rPr sz="1400" b="0" dirty="0"/>
              <a:t>  •  Uncertainty quantification (MC Dropout) — auto-refer low-confidence cases</a:t>
            </a:r>
          </a:p>
          <a:p>
            <a:pPr algn="l"/>
            <a:r>
              <a:rPr sz="1400" b="0" dirty="0"/>
              <a:t>  •  Visual explainability via Grad-CAM heat-maps on each model</a:t>
            </a:r>
          </a:p>
          <a:p>
            <a:pPr algn="l"/>
            <a:r>
              <a:rPr sz="1400" b="0" dirty="0"/>
              <a:t>  •  Deployment as interactive </a:t>
            </a:r>
            <a:r>
              <a:rPr sz="1400" b="0" dirty="0" err="1"/>
              <a:t>Streamlit</a:t>
            </a:r>
            <a:r>
              <a:rPr sz="1400" b="0" dirty="0"/>
              <a:t> web application</a:t>
            </a:r>
          </a:p>
          <a:p>
            <a:pPr algn="l">
              <a:spcBef>
                <a:spcPts val="800"/>
              </a:spcBef>
            </a:pPr>
            <a:r>
              <a:rPr sz="1700" b="1" dirty="0">
                <a:solidFill>
                  <a:srgbClr val="1F4E79"/>
                </a:solidFill>
              </a:rPr>
              <a:t>Key Challenges</a:t>
            </a:r>
          </a:p>
          <a:p>
            <a:pPr algn="l"/>
            <a:r>
              <a:rPr sz="1400" b="0" dirty="0"/>
              <a:t>  •  Class imbalance — COVID accounts for only ~13.4% of data</a:t>
            </a:r>
          </a:p>
          <a:p>
            <a:pPr algn="l"/>
            <a:r>
              <a:rPr sz="1400" b="0" dirty="0"/>
              <a:t>  •  Multi-source datasets requiring unified label mapping and deduplication</a:t>
            </a:r>
          </a:p>
          <a:p>
            <a:pPr algn="l"/>
            <a:r>
              <a:rPr sz="1400" b="0" dirty="0"/>
              <a:t>  •  Clinical interpretability: model decisions must be explainable</a:t>
            </a:r>
          </a:p>
          <a:p>
            <a:pPr algn="l"/>
            <a:r>
              <a:rPr sz="1400" b="0" dirty="0"/>
              <a:t>  •  Uncertainty must be communicated to avoid confident wrong predictions</a:t>
            </a:r>
          </a:p>
        </p:txBody>
      </p:sp>
    </p:spTree>
    <p:extLst>
      <p:ext uri="{BB962C8B-B14F-4D97-AF65-F5344CB8AC3E}">
        <p14:creationId xmlns:p14="http://schemas.microsoft.com/office/powerpoint/2010/main" val="253142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B582-23FD-2260-4E8F-BB3396178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365125"/>
            <a:ext cx="11106912" cy="1325563"/>
          </a:xfrm>
        </p:spPr>
        <p:txBody>
          <a:bodyPr/>
          <a:lstStyle/>
          <a:p>
            <a:r>
              <a:rPr sz="2600" b="1" dirty="0"/>
              <a:t>METHODOLOGY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1417320"/>
            <a:ext cx="5486400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F4E79"/>
                </a:solidFill>
              </a:rPr>
              <a:t>Model Architectures (ImageNet pretrained)</a:t>
            </a:r>
          </a:p>
          <a:p>
            <a:pPr algn="l"/>
            <a:r>
              <a:rPr sz="1300" b="0" dirty="0"/>
              <a:t>  •  DenseNet121  —  7.2M params  —  dense skip connections</a:t>
            </a:r>
          </a:p>
          <a:p>
            <a:pPr algn="l"/>
            <a:r>
              <a:rPr sz="1300" b="0" dirty="0"/>
              <a:t>  •  ResNet50     —  24.0M params —  residual connections</a:t>
            </a:r>
          </a:p>
          <a:p>
            <a:pPr algn="l"/>
            <a:r>
              <a:rPr sz="1300" b="0" dirty="0"/>
              <a:t>  •  EfficientNetB0 — 4.3M params —  compound scaling</a:t>
            </a:r>
          </a:p>
          <a:p>
            <a:pPr algn="l"/>
            <a:r>
              <a:rPr sz="1200" b="0" dirty="0"/>
              <a:t>      –  Shared head: </a:t>
            </a:r>
            <a:r>
              <a:rPr sz="1200" b="0" dirty="0" err="1"/>
              <a:t>BN→Drop→FC</a:t>
            </a:r>
            <a:r>
              <a:rPr sz="1200" b="0" dirty="0"/>
              <a:t>(f,256)→</a:t>
            </a:r>
            <a:r>
              <a:rPr sz="1200" b="0" dirty="0" err="1"/>
              <a:t>ReLU→BN→Drop→FC</a:t>
            </a:r>
            <a:r>
              <a:rPr sz="1200" b="0" dirty="0"/>
              <a:t>(256,3)</a:t>
            </a:r>
            <a:endParaRPr lang="en-US" sz="1200" b="0" dirty="0"/>
          </a:p>
          <a:p>
            <a:pPr algn="l"/>
            <a:endParaRPr sz="1200" b="0" dirty="0"/>
          </a:p>
          <a:p>
            <a:pPr algn="l">
              <a:spcBef>
                <a:spcPts val="800"/>
              </a:spcBef>
            </a:pPr>
            <a:r>
              <a:rPr sz="1600" b="1" dirty="0">
                <a:solidFill>
                  <a:srgbClr val="1F4E79"/>
                </a:solidFill>
              </a:rPr>
              <a:t>Two-Phase Transfer Learning</a:t>
            </a:r>
          </a:p>
          <a:p>
            <a:pPr algn="l"/>
            <a:r>
              <a:rPr sz="1300" b="0" dirty="0"/>
              <a:t>  •  Phase 1 (5 ep, </a:t>
            </a:r>
            <a:r>
              <a:rPr sz="1300" b="0" dirty="0" err="1"/>
              <a:t>lr</a:t>
            </a:r>
            <a:r>
              <a:rPr sz="1300" b="0" dirty="0"/>
              <a:t>=1e-3): frozen backbone — train head only</a:t>
            </a:r>
          </a:p>
          <a:p>
            <a:pPr algn="l"/>
            <a:r>
              <a:rPr sz="1300" b="0" dirty="0"/>
              <a:t>  •  Phase 2 (≤20 ep, </a:t>
            </a:r>
            <a:r>
              <a:rPr sz="1300" b="0" dirty="0" err="1"/>
              <a:t>lr</a:t>
            </a:r>
            <a:r>
              <a:rPr sz="1300" b="0" dirty="0"/>
              <a:t>=1e-5): unfreeze last block + joint fine-tuning</a:t>
            </a:r>
          </a:p>
          <a:p>
            <a:pPr algn="l"/>
            <a:r>
              <a:rPr sz="1200" b="0" dirty="0"/>
              <a:t>      –  </a:t>
            </a:r>
            <a:r>
              <a:rPr sz="1200" b="0" dirty="0" err="1"/>
              <a:t>EarlyStopping</a:t>
            </a:r>
            <a:r>
              <a:rPr sz="1200" b="0" dirty="0"/>
              <a:t> (patience=5), </a:t>
            </a:r>
            <a:r>
              <a:rPr sz="1200" b="0" dirty="0" err="1"/>
              <a:t>ReduceLROnPlateau</a:t>
            </a:r>
            <a:r>
              <a:rPr sz="1200" b="0" dirty="0"/>
              <a:t>, </a:t>
            </a:r>
            <a:r>
              <a:rPr sz="1200" b="0" dirty="0" err="1"/>
              <a:t>ModelCheckpoint</a:t>
            </a:r>
            <a:endParaRPr lang="en-US" sz="1200" b="0" dirty="0"/>
          </a:p>
          <a:p>
            <a:pPr algn="l"/>
            <a:endParaRPr sz="1200" b="0" dirty="0"/>
          </a:p>
          <a:p>
            <a:pPr algn="l">
              <a:spcBef>
                <a:spcPts val="800"/>
              </a:spcBef>
            </a:pPr>
            <a:r>
              <a:rPr sz="1600" b="1" dirty="0">
                <a:solidFill>
                  <a:srgbClr val="1F4E79"/>
                </a:solidFill>
              </a:rPr>
              <a:t>Loss &amp; Class Balancing</a:t>
            </a:r>
          </a:p>
          <a:p>
            <a:pPr algn="l"/>
            <a:r>
              <a:rPr sz="1300" b="0" dirty="0"/>
              <a:t>  •  Focal Loss (γ=2, α=0.25) + inverse-frequency class weights</a:t>
            </a:r>
          </a:p>
          <a:p>
            <a:pPr algn="l"/>
            <a:r>
              <a:rPr sz="1200" b="0" dirty="0"/>
              <a:t>      –  COVID weight = 2.49×  (vs Normal=0.77, Pneumonia=0.77)</a:t>
            </a:r>
            <a:endParaRPr lang="en-US" sz="1200" b="0" dirty="0"/>
          </a:p>
          <a:p>
            <a:pPr algn="l"/>
            <a:endParaRPr sz="1200" b="0" dirty="0"/>
          </a:p>
          <a:p>
            <a:pPr algn="l">
              <a:spcBef>
                <a:spcPts val="800"/>
              </a:spcBef>
            </a:pPr>
            <a:r>
              <a:rPr sz="1600" b="1" dirty="0">
                <a:solidFill>
                  <a:srgbClr val="1F4E79"/>
                </a:solidFill>
              </a:rPr>
              <a:t>Ensemble + Explainability</a:t>
            </a:r>
          </a:p>
          <a:p>
            <a:pPr algn="l"/>
            <a:r>
              <a:rPr sz="1300" b="0" dirty="0"/>
              <a:t>  •  AUC-weighted soft voting across all 3 models</a:t>
            </a:r>
          </a:p>
          <a:p>
            <a:pPr algn="l"/>
            <a:r>
              <a:rPr sz="1300" b="0" dirty="0"/>
              <a:t>  •  MC Dropout (50 passes): refer if combined uncertainty &gt; 0.35</a:t>
            </a:r>
          </a:p>
          <a:p>
            <a:pPr algn="l"/>
            <a:r>
              <a:rPr sz="1300" b="0" dirty="0"/>
              <a:t>  •  Grad-CAM on last conv block — heat-maps overlaid on CXR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417320"/>
            <a:ext cx="548640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F4E79"/>
                </a:solidFill>
              </a:rPr>
              <a:t>Pipeline Overview</a:t>
            </a:r>
          </a:p>
          <a:p>
            <a:pPr algn="l"/>
            <a:endParaRPr sz="1500" b="1" dirty="0">
              <a:solidFill>
                <a:srgbClr val="1F4E79"/>
              </a:solidFill>
            </a:endParaRPr>
          </a:p>
          <a:p>
            <a:pPr algn="l"/>
            <a:r>
              <a:rPr sz="1300" b="0" dirty="0"/>
              <a:t>►  Raw CXR images (</a:t>
            </a:r>
            <a:r>
              <a:rPr sz="1300" b="0" dirty="0" err="1"/>
              <a:t>Kermany</a:t>
            </a:r>
            <a:r>
              <a:rPr sz="1300" b="0" dirty="0"/>
              <a:t> + COVID-19 DB)</a:t>
            </a:r>
          </a:p>
          <a:p>
            <a:pPr algn="l"/>
            <a:r>
              <a:rPr sz="1300" b="0" dirty="0"/>
              <a:t>►  Unify labels → deduplicate → 80/10/10 split</a:t>
            </a:r>
          </a:p>
          <a:p>
            <a:pPr algn="l"/>
            <a:r>
              <a:rPr sz="1300" b="0" dirty="0"/>
              <a:t>►  Augmentation + ImageNet </a:t>
            </a:r>
            <a:r>
              <a:rPr sz="1300" b="0" dirty="0" err="1"/>
              <a:t>normalisation</a:t>
            </a:r>
            <a:endParaRPr sz="1300" b="0" dirty="0"/>
          </a:p>
          <a:p>
            <a:pPr algn="l"/>
            <a:r>
              <a:rPr sz="1300" b="0" dirty="0"/>
              <a:t>►  Phase 1: train head (backbone frozen)</a:t>
            </a:r>
          </a:p>
          <a:p>
            <a:pPr algn="l"/>
            <a:r>
              <a:rPr sz="1300" b="0" dirty="0"/>
              <a:t>►  Phase 2: fine-tune last block + head</a:t>
            </a:r>
          </a:p>
          <a:p>
            <a:pPr algn="l"/>
            <a:r>
              <a:rPr sz="1300" b="0" dirty="0"/>
              <a:t>►  Ensemble: AUC-weighted soft voting</a:t>
            </a:r>
          </a:p>
          <a:p>
            <a:pPr algn="l"/>
            <a:r>
              <a:rPr sz="1300" b="0" dirty="0"/>
              <a:t>►  MC Dropout → uncertainty → referral flag</a:t>
            </a:r>
          </a:p>
          <a:p>
            <a:pPr algn="l"/>
            <a:r>
              <a:rPr sz="1300" b="0" dirty="0"/>
              <a:t>►  Grad-CAM → saliency heat-map overlay</a:t>
            </a:r>
          </a:p>
          <a:p>
            <a:pPr algn="l"/>
            <a:r>
              <a:rPr sz="1300" b="0" dirty="0"/>
              <a:t>►  </a:t>
            </a:r>
            <a:r>
              <a:rPr sz="1300" b="0" dirty="0" err="1"/>
              <a:t>Streamlit</a:t>
            </a:r>
            <a:r>
              <a:rPr sz="1300" b="0" dirty="0"/>
              <a:t> app: single &amp; batch inference</a:t>
            </a:r>
          </a:p>
        </p:txBody>
      </p:sp>
    </p:spTree>
    <p:extLst>
      <p:ext uri="{BB962C8B-B14F-4D97-AF65-F5344CB8AC3E}">
        <p14:creationId xmlns:p14="http://schemas.microsoft.com/office/powerpoint/2010/main" val="1354366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5288C8-8AC8-4F69-65E3-D5B61AC07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65125"/>
            <a:ext cx="11097768" cy="1325563"/>
          </a:xfrm>
        </p:spPr>
        <p:txBody>
          <a:bodyPr/>
          <a:lstStyle/>
          <a:p>
            <a:r>
              <a:rPr sz="2600" b="1" dirty="0"/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</a:rPr>
              <a:t>Sources</a:t>
            </a:r>
          </a:p>
          <a:p>
            <a:pPr algn="l"/>
            <a:r>
              <a:rPr sz="1300" b="0"/>
              <a:t>  •  Kermany Chest X-Ray (Kaggle)  —  5,863 images  |  Classes: Normal, Pneumonia</a:t>
            </a:r>
          </a:p>
          <a:p>
            <a:pPr algn="l"/>
            <a:r>
              <a:rPr sz="1300" b="0"/>
              <a:t>  •  COVID-19 Radiography Database (Kaggle)  —  21,165 images  |  Classes: COVID, Viral Pneumonia, Lung Opacity, Normal</a:t>
            </a:r>
          </a:p>
          <a:p>
            <a:pPr algn="l">
              <a:spcBef>
                <a:spcPts val="600"/>
              </a:spcBef>
            </a:pPr>
            <a:r>
              <a:rPr sz="1400" b="1">
                <a:solidFill>
                  <a:srgbClr val="1F4E79"/>
                </a:solidFill>
              </a:rPr>
              <a:t>After hash-based deduplication → 27,005 unique images</a:t>
            </a:r>
          </a:p>
          <a:p>
            <a:pPr algn="l"/>
            <a:r>
              <a:rPr sz="1300" b="0"/>
              <a:t>  •  80 / 10 / 10 stratified split   |   Train: 21,604   |   Val: 2,700   |   Test: 2,701</a:t>
            </a:r>
          </a:p>
          <a:p>
            <a:pPr algn="l"/>
            <a:r>
              <a:rPr sz="1300" b="0"/>
              <a:t>  •  Normal: 11,767   |   Pneumonia: 11,622   |   COVID: 3,616  (≤13.4% — minority class)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1F4E79"/>
                </a:solidFill>
              </a:rPr>
              <a:t>Preprocessing</a:t>
            </a:r>
          </a:p>
          <a:p>
            <a:pPr algn="l"/>
            <a:r>
              <a:rPr sz="1300" b="0"/>
              <a:t>  •  Resize to 224×224  |  ImageNet normalisation  |  Train augmentation: H-flip, ±15° rotation, affine</a:t>
            </a:r>
          </a:p>
        </p:txBody>
      </p:sp>
      <p:pic>
        <p:nvPicPr>
          <p:cNvPr id="6" name="Picture 5" descr="IM-0023-00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958" y="4133088"/>
            <a:ext cx="3204057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95958" y="6409944"/>
            <a:ext cx="320405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505050"/>
                </a:solidFill>
              </a:rPr>
              <a:t>Normal</a:t>
            </a:r>
          </a:p>
        </p:txBody>
      </p:sp>
      <p:pic>
        <p:nvPicPr>
          <p:cNvPr id="8" name="Picture 7" descr="person1946_bacteria_487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4133088"/>
            <a:ext cx="3313785" cy="2194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28616" y="6409944"/>
            <a:ext cx="331378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505050"/>
                </a:solidFill>
              </a:rPr>
              <a:t>Pneumonia</a:t>
            </a:r>
          </a:p>
        </p:txBody>
      </p:sp>
      <p:pic>
        <p:nvPicPr>
          <p:cNvPr id="10" name="Picture 9" descr="x-ray-image-2b_ful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1001" y="4133088"/>
            <a:ext cx="2194560" cy="2194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71001" y="640994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05050"/>
                </a:solidFill>
              </a:rPr>
              <a:t>COVID-19</a:t>
            </a:r>
          </a:p>
        </p:txBody>
      </p:sp>
    </p:spTree>
    <p:extLst>
      <p:ext uri="{BB962C8B-B14F-4D97-AF65-F5344CB8AC3E}">
        <p14:creationId xmlns:p14="http://schemas.microsoft.com/office/powerpoint/2010/main" val="3096846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2311-AD6E-0A40-2414-D559574A0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1" y="452718"/>
            <a:ext cx="9776514" cy="968119"/>
          </a:xfrm>
        </p:spPr>
        <p:txBody>
          <a:bodyPr/>
          <a:lstStyle/>
          <a:p>
            <a:r>
              <a:rPr sz="2600" b="1" dirty="0"/>
              <a:t>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17320"/>
            <a:ext cx="11430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</a:rPr>
              <a:t>Hardware &amp; Setup</a:t>
            </a:r>
          </a:p>
          <a:p>
            <a:pPr algn="l"/>
            <a:r>
              <a:rPr sz="1300" b="0"/>
              <a:t>  •  NVIDIA RTX 3060 Laptop (6 GB VRAM), CUDA 12.4  |  PyTorch + mixed precision (torch.cuda.amp)</a:t>
            </a:r>
          </a:p>
          <a:p>
            <a:pPr algn="l"/>
            <a:r>
              <a:rPr sz="1300" b="0"/>
              <a:t>  •  Batch size: 32  |  Image size: 224×224  |  Optimizer: Adam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1F4E79"/>
                </a:solidFill>
              </a:rPr>
              <a:t>Phase Results</a:t>
            </a:r>
          </a:p>
          <a:p>
            <a:pPr algn="l"/>
            <a:r>
              <a:rPr sz="1300" b="0"/>
              <a:t>  •  Phase 1 final val-acc  —  DenseNet121: 79.1%   ResNet50: 79.6%   EfficientNetB0: 86.6%</a:t>
            </a:r>
          </a:p>
          <a:p>
            <a:pPr algn="l"/>
            <a:r>
              <a:rPr sz="1300" b="1"/>
              <a:t>  •  Phase 2 best  val-acc  —  DenseNet121: 90.1%   ResNet50: 92.3%   EfficientNetB0: 94.1%</a:t>
            </a:r>
          </a:p>
          <a:p>
            <a:pPr algn="l"/>
            <a:r>
              <a:rPr sz="1200" b="0"/>
              <a:t>      –  EarlyStopping triggered: ResNet50 at Phase-1 ep 4 and Phase-2 ep 16; EfficientNetB0 at Phase-2 ep 7</a:t>
            </a:r>
          </a:p>
        </p:txBody>
      </p:sp>
      <p:pic>
        <p:nvPicPr>
          <p:cNvPr id="4" name="Picture 3" descr="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3321036"/>
            <a:ext cx="9482328" cy="33271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7580857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Fig: Training &amp; validation loss/accuracy across Phase 1 and Phase 2 for all three models</a:t>
            </a:r>
          </a:p>
        </p:txBody>
      </p:sp>
    </p:spTree>
    <p:extLst>
      <p:ext uri="{BB962C8B-B14F-4D97-AF65-F5344CB8AC3E}">
        <p14:creationId xmlns:p14="http://schemas.microsoft.com/office/powerpoint/2010/main" val="1951567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B3FF1-E2E3-2634-0CF1-98A50C949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65125"/>
            <a:ext cx="11052048" cy="1325563"/>
          </a:xfrm>
        </p:spPr>
        <p:txBody>
          <a:bodyPr/>
          <a:lstStyle/>
          <a:p>
            <a:r>
              <a:rPr sz="2600" b="1" dirty="0"/>
              <a:t>RESULTS WITH VISUAL OUTPUTS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15991"/>
              </p:ext>
            </p:extLst>
          </p:nvPr>
        </p:nvGraphicFramePr>
        <p:xfrm>
          <a:off x="487680" y="1417320"/>
          <a:ext cx="11216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9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9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9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9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Macro 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Macro F1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F1-COVID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E1E1E"/>
                          </a:solidFill>
                        </a:rPr>
                        <a:t>DenseNet121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90.19%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0.9814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0.8937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0.8678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</a:rPr>
                        <a:t>ResNet50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92.63%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0.9875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0.9232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0.9131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</a:rPr>
                        <a:t>EfficientNetB0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93.67%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0.9900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0.9376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0.9407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1E1E"/>
                          </a:solidFill>
                        </a:rPr>
                        <a:t>Ensemble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1E1E"/>
                          </a:solidFill>
                        </a:rPr>
                        <a:t>93.74%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1E1E"/>
                          </a:solidFill>
                        </a:rPr>
                        <a:t>0.9908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1E1E"/>
                          </a:solidFill>
                        </a:rPr>
                        <a:t>0.9396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E1E1E"/>
                          </a:solidFill>
                        </a:rPr>
                        <a:t>0.9465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81000" y="35661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1F4E79"/>
                </a:solidFill>
              </a:rPr>
              <a:t>High-confidence subset (55.2% of test set, threshold=0.35):  99.40% accuracy</a:t>
            </a:r>
          </a:p>
        </p:txBody>
      </p:sp>
      <p:pic>
        <p:nvPicPr>
          <p:cNvPr id="5" name="Picture 4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86200"/>
            <a:ext cx="10972800" cy="24994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92875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Fig: Normalised confusion matrices — DenseNet121, ResNet50, EfficientNetB0, Ensemble</a:t>
            </a:r>
          </a:p>
        </p:txBody>
      </p:sp>
    </p:spTree>
    <p:extLst>
      <p:ext uri="{BB962C8B-B14F-4D97-AF65-F5344CB8AC3E}">
        <p14:creationId xmlns:p14="http://schemas.microsoft.com/office/powerpoint/2010/main" val="1187684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7B4B0-C263-B1D7-1567-69144A47B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464" y="365125"/>
            <a:ext cx="11070336" cy="1325563"/>
          </a:xfrm>
        </p:spPr>
        <p:txBody>
          <a:bodyPr/>
          <a:lstStyle/>
          <a:p>
            <a:r>
              <a:rPr sz="2600" b="1" dirty="0"/>
              <a:t>VISUAL ANALYSIS — CALIBRATION &amp; EXPLAINABILITY</a:t>
            </a:r>
            <a:endParaRPr lang="en-US" dirty="0"/>
          </a:p>
        </p:txBody>
      </p:sp>
      <p:pic>
        <p:nvPicPr>
          <p:cNvPr id="5" name="Picture 4" descr="calibration_dia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17320"/>
            <a:ext cx="5486400" cy="2240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72200" y="3675887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</a:rPr>
              <a:t>Calibration (Reliability) Diagrams — all models &amp; ensemble</a:t>
            </a:r>
          </a:p>
        </p:txBody>
      </p:sp>
      <p:pic>
        <p:nvPicPr>
          <p:cNvPr id="7" name="Picture 6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19"/>
            <a:ext cx="5486400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2232" y="3675887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505050"/>
                </a:solidFill>
              </a:rPr>
              <a:t>One-vs-Rest ROC Curves (per class, all models)</a:t>
            </a:r>
          </a:p>
        </p:txBody>
      </p:sp>
      <p:pic>
        <p:nvPicPr>
          <p:cNvPr id="9" name="Picture 8" descr="uncertainty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4069079"/>
            <a:ext cx="5486400" cy="224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52800" y="6383147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505050"/>
                </a:solidFill>
              </a:rPr>
              <a:t>MC Dropout Uncertainty — correct vs misclassified (threshold=0.35)</a:t>
            </a:r>
          </a:p>
        </p:txBody>
      </p:sp>
    </p:spTree>
    <p:extLst>
      <p:ext uri="{BB962C8B-B14F-4D97-AF65-F5344CB8AC3E}">
        <p14:creationId xmlns:p14="http://schemas.microsoft.com/office/powerpoint/2010/main" val="1503428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E2442-63EB-91B6-AE14-4B31F0265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365125"/>
            <a:ext cx="11106912" cy="1325563"/>
          </a:xfrm>
        </p:spPr>
        <p:txBody>
          <a:bodyPr/>
          <a:lstStyle/>
          <a:p>
            <a:r>
              <a:rPr sz="2600" b="1" dirty="0"/>
              <a:t>COMPARISON WITH STATE OF THE ART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417320"/>
          <a:ext cx="1142999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14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24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449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Classes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UQ / Explainability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</a:rPr>
                        <a:t>CheXNet (2017)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14-class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100K CXR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90.1%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0.968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</a:rPr>
                        <a:t>COVID-Net (2020)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3-class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~14K CXR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92.7%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</a:rPr>
                        <a:t>Minaee et al. 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2-class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5K CXR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98.3%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Grad-CAM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</a:rPr>
                        <a:t>Narin et al. 2021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3-class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4.2K CXR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98.2%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0.993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</a:rPr>
                        <a:t>Zhang et al. 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3-class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1.4K CXR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96.0%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0.994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1E1E"/>
                          </a:solidFill>
                        </a:rPr>
                        <a:t>Conf.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1E1E"/>
                          </a:solidFill>
                        </a:rPr>
                        <a:t>Ours (Ensemble)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1E1E"/>
                          </a:solidFill>
                        </a:rPr>
                        <a:t>3-class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1E1E"/>
                          </a:solidFill>
                        </a:rPr>
                        <a:t>27K CXR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1E1E"/>
                          </a:solidFill>
                        </a:rPr>
                        <a:t>93.74%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1E1E"/>
                          </a:solidFill>
                        </a:rPr>
                        <a:t>0.991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1E1E"/>
                          </a:solidFill>
                        </a:rPr>
                        <a:t>MC Dropout + Grad-CAM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91616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1E"/>
                </a:solidFill>
              </a:rPr>
              <a:t>★  Largest unified 3-class dataset (27K) among compared methods</a:t>
            </a:r>
          </a:p>
          <a:p>
            <a:pPr algn="l"/>
            <a:r>
              <a:rPr sz="1200" b="0">
                <a:solidFill>
                  <a:srgbClr val="1E1E1E"/>
                </a:solidFill>
              </a:rPr>
              <a:t>★  Only method combining uncertainty quantification AND visual explainability</a:t>
            </a:r>
          </a:p>
          <a:p>
            <a:pPr algn="l"/>
            <a:r>
              <a:rPr sz="1200" b="1">
                <a:solidFill>
                  <a:srgbClr val="1F4E79"/>
                </a:solidFill>
              </a:rPr>
              <a:t>★  Referral mechanism achieves 99.40% accuracy on high-confidence predictions</a:t>
            </a:r>
          </a:p>
        </p:txBody>
      </p:sp>
    </p:spTree>
    <p:extLst>
      <p:ext uri="{BB962C8B-B14F-4D97-AF65-F5344CB8AC3E}">
        <p14:creationId xmlns:p14="http://schemas.microsoft.com/office/powerpoint/2010/main" val="2334113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2CCF-2F63-EAB6-7C55-723EA6D87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365125"/>
            <a:ext cx="11116056" cy="1325563"/>
          </a:xfrm>
        </p:spPr>
        <p:txBody>
          <a:bodyPr/>
          <a:lstStyle/>
          <a:p>
            <a:r>
              <a:rPr sz="2600" b="1" dirty="0"/>
              <a:t>SUMMARY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17320"/>
            <a:ext cx="11116056" cy="3483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1F4E79"/>
                </a:solidFill>
              </a:rPr>
              <a:t>Summary</a:t>
            </a:r>
          </a:p>
          <a:p>
            <a:pPr algn="l"/>
            <a:r>
              <a:rPr sz="1300" b="0" dirty="0"/>
              <a:t>  •  End-to-end 3-class CXR classifier on 27,005 images</a:t>
            </a:r>
          </a:p>
          <a:p>
            <a:pPr algn="l"/>
            <a:r>
              <a:rPr sz="1300" b="0" dirty="0"/>
              <a:t>  •  Ensemble (DenseNet121 + ResNet50 + EfficientNetB0)</a:t>
            </a:r>
            <a:r>
              <a:rPr lang="en-US" sz="1300" b="0" dirty="0"/>
              <a:t> </a:t>
            </a:r>
            <a:r>
              <a:rPr sz="1300" b="1" dirty="0"/>
              <a:t>–  93.74% accuracy  |  0.9908 macro AUC  |  0.9396 macro F1</a:t>
            </a:r>
          </a:p>
          <a:p>
            <a:pPr algn="l"/>
            <a:r>
              <a:rPr sz="1300" b="0" dirty="0"/>
              <a:t>  •  Focal Loss + class weights handle severe class imbalance</a:t>
            </a:r>
          </a:p>
          <a:p>
            <a:pPr algn="l"/>
            <a:r>
              <a:rPr sz="1300" b="0" dirty="0"/>
              <a:t>  •  MC Dropout: 99.40% accuracy on 55.2% high-confidence subset</a:t>
            </a:r>
          </a:p>
          <a:p>
            <a:pPr algn="l"/>
            <a:r>
              <a:rPr sz="1300" b="0" dirty="0"/>
              <a:t>  •  Grad-CAM provides radiologist-interpretable saliency overlays</a:t>
            </a:r>
          </a:p>
          <a:p>
            <a:pPr algn="l"/>
            <a:r>
              <a:rPr sz="1300" b="0" dirty="0"/>
              <a:t>  •  Deployed as </a:t>
            </a:r>
            <a:r>
              <a:rPr sz="1300" b="0" dirty="0" err="1"/>
              <a:t>Streamlit</a:t>
            </a:r>
            <a:r>
              <a:rPr sz="1300" b="0" dirty="0"/>
              <a:t> app: single &amp; batch inference + CSV export</a:t>
            </a:r>
            <a:endParaRPr lang="en-US" sz="1300" b="0" dirty="0"/>
          </a:p>
          <a:p>
            <a:pPr algn="l"/>
            <a:endParaRPr sz="1300" b="0" dirty="0"/>
          </a:p>
          <a:p>
            <a:pPr algn="l">
              <a:spcBef>
                <a:spcPts val="800"/>
              </a:spcBef>
            </a:pPr>
            <a:r>
              <a:rPr sz="1700" b="1" dirty="0">
                <a:solidFill>
                  <a:srgbClr val="1F4E79"/>
                </a:solidFill>
              </a:rPr>
              <a:t>Limitations</a:t>
            </a:r>
          </a:p>
          <a:p>
            <a:pPr algn="l"/>
            <a:r>
              <a:rPr sz="1300" b="0" dirty="0"/>
              <a:t>  •  Two-source dataset</a:t>
            </a:r>
            <a:endParaRPr lang="en-US" sz="1300" b="0" dirty="0"/>
          </a:p>
          <a:p>
            <a:pPr algn="l"/>
            <a:r>
              <a:rPr lang="en-US" sz="1300" b="0" dirty="0"/>
              <a:t>  •  44.8% referral rate may be high for real-world triage deployment</a:t>
            </a:r>
          </a:p>
          <a:p>
            <a:pPr algn="l"/>
            <a:endParaRPr sz="1300" b="0" dirty="0"/>
          </a:p>
          <a:p>
            <a:pPr algn="l">
              <a:spcBef>
                <a:spcPts val="800"/>
              </a:spcBef>
            </a:pPr>
            <a:r>
              <a:rPr sz="1700" b="1" dirty="0">
                <a:solidFill>
                  <a:srgbClr val="1F4E79"/>
                </a:solidFill>
              </a:rPr>
              <a:t>Future Work</a:t>
            </a:r>
          </a:p>
          <a:p>
            <a:pPr algn="l"/>
            <a:r>
              <a:rPr lang="en-US" sz="1300" b="0" dirty="0"/>
              <a:t>  •  Vision-language model for automated radiology report generation</a:t>
            </a:r>
          </a:p>
          <a:p>
            <a:pPr algn="l"/>
            <a:r>
              <a:rPr sz="1300" b="0" dirty="0"/>
              <a:t>  •  Reduce referral rate via temperature scaling</a:t>
            </a:r>
            <a:endParaRPr lang="en-US" sz="1300" b="0" dirty="0"/>
          </a:p>
        </p:txBody>
      </p:sp>
    </p:spTree>
    <p:extLst>
      <p:ext uri="{BB962C8B-B14F-4D97-AF65-F5344CB8AC3E}">
        <p14:creationId xmlns:p14="http://schemas.microsoft.com/office/powerpoint/2010/main" val="2165070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F7C72483F11D4DA2730B64E78C7605" ma:contentTypeVersion="7" ma:contentTypeDescription="Create a new document." ma:contentTypeScope="" ma:versionID="c5a03561bf4af1bce721cea200ac2399">
  <xsd:schema xmlns:xsd="http://www.w3.org/2001/XMLSchema" xmlns:xs="http://www.w3.org/2001/XMLSchema" xmlns:p="http://schemas.microsoft.com/office/2006/metadata/properties" xmlns:ns2="1159fd8f-c7e5-4925-83b7-d94dc0b8dd75" targetNamespace="http://schemas.microsoft.com/office/2006/metadata/properties" ma:root="true" ma:fieldsID="e529094f237f9660feba51cb96a248ad" ns2:_="">
    <xsd:import namespace="1159fd8f-c7e5-4925-83b7-d94dc0b8d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59fd8f-c7e5-4925-83b7-d94dc0b8dd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137209-D1C5-4556-A599-C8D98B05EB0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E781BD-F2D5-4518-9364-C306D25E3146}">
  <ds:schemaRefs>
    <ds:schemaRef ds:uri="e12f6eeb-51a1-49e7-9986-4cd4bc167288"/>
    <ds:schemaRef ds:uri="f867948c-0ec7-483c-8243-fc1fd12ccac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4929F1E-2E5A-4BA1-8040-01561CB2BF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59fd8f-c7e5-4925-83b7-d94dc0b8dd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</TotalTime>
  <Words>982</Words>
  <Application>Microsoft Office PowerPoint</Application>
  <PresentationFormat>Widescreen</PresentationFormat>
  <Paragraphs>167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Automated  Pneumonia and COVID-19 Detection  from Chest X-Ray Images</vt:lpstr>
      <vt:lpstr>PROBLEM STATEMENT</vt:lpstr>
      <vt:lpstr>METHODOLOGY</vt:lpstr>
      <vt:lpstr>DATASET</vt:lpstr>
      <vt:lpstr>EXPERIMENTS</vt:lpstr>
      <vt:lpstr>RESULTS WITH VISUAL OUTPUTS</vt:lpstr>
      <vt:lpstr>VISUAL ANALYSIS — CALIBRATION &amp; EXPLAINABILITY</vt:lpstr>
      <vt:lpstr>COMPARISON WITH STATE OF THE ART</vt:lpstr>
      <vt:lpstr>SUMMARY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Imaging  </dc:title>
  <dc:creator>Vaanathi Sundaresan</dc:creator>
  <cp:lastModifiedBy>Rajib Roy</cp:lastModifiedBy>
  <cp:revision>13</cp:revision>
  <dcterms:created xsi:type="dcterms:W3CDTF">2023-01-15T15:15:23Z</dcterms:created>
  <dcterms:modified xsi:type="dcterms:W3CDTF">2026-04-08T02:05:59Z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0x01010064F7C72483F11D4DA2730B64E78C7605</vt:lpwstr>
  </property>
</Properties>
</file>